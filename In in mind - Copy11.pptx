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01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47FC8-CA83-4465-5F4D-117E9DBB1A26}" v="13" dt="2025-11-24T01:50:16.415"/>
    <p1510:client id="{C65CA5F1-AF1A-8234-01D2-78BE06F4C2D1}" v="1" dt="2025-11-24T00:58:22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2.xml" Id="rId3" /><Relationship Type="http://schemas.openxmlformats.org/officeDocument/2006/relationships/tableStyles" Target="tableStyles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6" /><Relationship Type="http://schemas.openxmlformats.org/officeDocument/2006/relationships/viewProps" Target="viewProps.xml" Id="rId5" /><Relationship Type="http://schemas.openxmlformats.org/officeDocument/2006/relationships/presProps" Target="presProps.xml" Id="rId4" /><Relationship Type="http://schemas.microsoft.com/office/2015/10/relationships/revisionInfo" Target="revisionInfo.xml" Id="rId9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80A43-161B-46D2-AC3E-5AEE212CEC54}" type="doc">
      <dgm:prSet loTypeId="urn:microsoft.com/office/officeart/2005/8/layout/arrow2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AU"/>
        </a:p>
      </dgm:t>
    </dgm:pt>
    <dgm:pt modelId="{AE352E20-2441-4D81-9B3C-F321CEAE8A78}">
      <dgm:prSet phldrT="[Text]" custT="1"/>
      <dgm:spPr/>
      <dgm:t>
        <a:bodyPr/>
        <a:lstStyle/>
        <a:p>
          <a:r>
            <a:rPr lang="en-AU" sz="1600" b="1" dirty="0"/>
            <a:t>Defined </a:t>
          </a:r>
        </a:p>
      </dgm:t>
    </dgm:pt>
    <dgm:pt modelId="{2637F733-E1D3-4F24-BDE8-B7AB8A519620}" type="parTrans" cxnId="{C1B0A818-60CD-4BE3-B95B-454DD8E4E0E7}">
      <dgm:prSet/>
      <dgm:spPr/>
      <dgm:t>
        <a:bodyPr/>
        <a:lstStyle/>
        <a:p>
          <a:endParaRPr lang="en-AU"/>
        </a:p>
      </dgm:t>
    </dgm:pt>
    <dgm:pt modelId="{450EF15E-3D24-41FD-97FB-D32910C7A1A2}" type="sibTrans" cxnId="{C1B0A818-60CD-4BE3-B95B-454DD8E4E0E7}">
      <dgm:prSet/>
      <dgm:spPr/>
      <dgm:t>
        <a:bodyPr/>
        <a:lstStyle/>
        <a:p>
          <a:endParaRPr lang="en-AU"/>
        </a:p>
      </dgm:t>
    </dgm:pt>
    <dgm:pt modelId="{79F1B2C8-E62B-4AE7-908C-B830E6F3F8B8}">
      <dgm:prSet phldrT="[Text]" custT="1"/>
      <dgm:spPr/>
      <dgm:t>
        <a:bodyPr/>
        <a:lstStyle/>
        <a:p>
          <a:pPr algn="ctr"/>
          <a:r>
            <a:rPr lang="en-AU" sz="1600" b="1" dirty="0"/>
            <a:t>Optimised</a:t>
          </a:r>
        </a:p>
      </dgm:t>
    </dgm:pt>
    <dgm:pt modelId="{A26F6EB4-9514-44B1-ADEA-68B47988B16D}" type="parTrans" cxnId="{B989192B-0AA8-4F4D-B289-03B363B2E898}">
      <dgm:prSet/>
      <dgm:spPr/>
      <dgm:t>
        <a:bodyPr/>
        <a:lstStyle/>
        <a:p>
          <a:endParaRPr lang="en-AU"/>
        </a:p>
      </dgm:t>
    </dgm:pt>
    <dgm:pt modelId="{157FE2C8-7D7E-4D2A-8EBC-77E43B656CDA}" type="sibTrans" cxnId="{B989192B-0AA8-4F4D-B289-03B363B2E898}">
      <dgm:prSet/>
      <dgm:spPr/>
      <dgm:t>
        <a:bodyPr/>
        <a:lstStyle/>
        <a:p>
          <a:endParaRPr lang="en-AU"/>
        </a:p>
      </dgm:t>
    </dgm:pt>
    <dgm:pt modelId="{9EAC42AC-6086-4216-838A-089215267165}">
      <dgm:prSet phldrT="[Text]" custT="1"/>
      <dgm:spPr/>
      <dgm:t>
        <a:bodyPr/>
        <a:lstStyle/>
        <a:p>
          <a:r>
            <a:rPr lang="en-AU" sz="1600" b="1" dirty="0"/>
            <a:t>Reactive</a:t>
          </a:r>
        </a:p>
      </dgm:t>
    </dgm:pt>
    <dgm:pt modelId="{215F0B53-8E04-47D5-AD2E-16F9B55DFCC2}" type="sibTrans" cxnId="{A770238F-4443-4A8F-A28B-3A67FF53965F}">
      <dgm:prSet/>
      <dgm:spPr/>
      <dgm:t>
        <a:bodyPr/>
        <a:lstStyle/>
        <a:p>
          <a:endParaRPr lang="en-AU"/>
        </a:p>
      </dgm:t>
    </dgm:pt>
    <dgm:pt modelId="{F8FBF5E5-020A-49E7-9FC2-FB9A17496366}" type="parTrans" cxnId="{A770238F-4443-4A8F-A28B-3A67FF53965F}">
      <dgm:prSet/>
      <dgm:spPr/>
      <dgm:t>
        <a:bodyPr/>
        <a:lstStyle/>
        <a:p>
          <a:endParaRPr lang="en-AU"/>
        </a:p>
      </dgm:t>
    </dgm:pt>
    <dgm:pt modelId="{80D8D8A2-BC49-44EB-A9F1-C3A2C0ACFA50}">
      <dgm:prSet custT="1"/>
      <dgm:spPr/>
      <dgm:t>
        <a:bodyPr/>
        <a:lstStyle/>
        <a:p>
          <a:r>
            <a:rPr lang="en-AU" sz="1600" b="1" dirty="0"/>
            <a:t>Managed</a:t>
          </a:r>
        </a:p>
      </dgm:t>
    </dgm:pt>
    <dgm:pt modelId="{F81C3A2A-4834-4796-BAD9-17267227B41D}" type="parTrans" cxnId="{6F676A2A-2187-4C08-9BAF-887B77CC2FC3}">
      <dgm:prSet/>
      <dgm:spPr/>
      <dgm:t>
        <a:bodyPr/>
        <a:lstStyle/>
        <a:p>
          <a:endParaRPr lang="en-AU"/>
        </a:p>
      </dgm:t>
    </dgm:pt>
    <dgm:pt modelId="{92998273-0E88-4EF6-909C-2C126D0FADB5}" type="sibTrans" cxnId="{6F676A2A-2187-4C08-9BAF-887B77CC2FC3}">
      <dgm:prSet/>
      <dgm:spPr/>
      <dgm:t>
        <a:bodyPr/>
        <a:lstStyle/>
        <a:p>
          <a:endParaRPr lang="en-AU"/>
        </a:p>
      </dgm:t>
    </dgm:pt>
    <dgm:pt modelId="{F77736EE-8444-4003-BC88-CB050EF5FB17}" type="pres">
      <dgm:prSet presAssocID="{4AA80A43-161B-46D2-AC3E-5AEE212CEC54}" presName="arrowDiagram" presStyleCnt="0">
        <dgm:presLayoutVars>
          <dgm:chMax val="5"/>
          <dgm:dir/>
          <dgm:resizeHandles val="exact"/>
        </dgm:presLayoutVars>
      </dgm:prSet>
      <dgm:spPr/>
    </dgm:pt>
    <dgm:pt modelId="{E7EA1D78-5921-45CB-A526-E1466A344472}" type="pres">
      <dgm:prSet presAssocID="{4AA80A43-161B-46D2-AC3E-5AEE212CEC54}" presName="arrow" presStyleLbl="bgShp" presStyleIdx="0" presStyleCnt="1" custScaleX="158718" custLinFactNeighborX="-4871" custLinFactNeighborY="-1463"/>
      <dgm:spPr>
        <a:gradFill flip="none" rotWithShape="0">
          <a:gsLst>
            <a:gs pos="10000">
              <a:srgbClr val="7030A0">
                <a:tint val="66000"/>
                <a:satMod val="160000"/>
              </a:srgbClr>
            </a:gs>
            <a:gs pos="87000">
              <a:srgbClr val="7030A0">
                <a:tint val="23500"/>
                <a:satMod val="160000"/>
              </a:srgbClr>
            </a:gs>
          </a:gsLst>
          <a:lin ang="0" scaled="1"/>
          <a:tileRect/>
        </a:gradFill>
      </dgm:spPr>
    </dgm:pt>
    <dgm:pt modelId="{4B8B342D-61D1-464D-B722-B7061A7496E3}" type="pres">
      <dgm:prSet presAssocID="{4AA80A43-161B-46D2-AC3E-5AEE212CEC54}" presName="arrowDiagram4" presStyleCnt="0"/>
      <dgm:spPr/>
    </dgm:pt>
    <dgm:pt modelId="{E4F10201-0704-4326-892F-0B60E47C00A6}" type="pres">
      <dgm:prSet presAssocID="{9EAC42AC-6086-4216-838A-089215267165}" presName="bullet4a" presStyleLbl="node1" presStyleIdx="0" presStyleCnt="4" custFlipHor="1" custScaleX="96470" custScaleY="95930" custLinFactX="-500000" custLinFactNeighborX="-550276" custLinFactNeighborY="-73145"/>
      <dgm:spPr>
        <a:solidFill>
          <a:srgbClr val="FF0000"/>
        </a:solidFill>
        <a:ln w="19050">
          <a:solidFill>
            <a:schemeClr val="bg1"/>
          </a:solidFill>
        </a:ln>
      </dgm:spPr>
    </dgm:pt>
    <dgm:pt modelId="{2723C16D-7E3F-4CB3-B0F9-9980486B520B}" type="pres">
      <dgm:prSet presAssocID="{9EAC42AC-6086-4216-838A-089215267165}" presName="textBox4a" presStyleLbl="revTx" presStyleIdx="0" presStyleCnt="4" custScaleX="188929" custLinFactX="-36124" custLinFactNeighborX="-100000" custLinFactNeighborY="-44679">
        <dgm:presLayoutVars>
          <dgm:bulletEnabled val="1"/>
        </dgm:presLayoutVars>
      </dgm:prSet>
      <dgm:spPr/>
    </dgm:pt>
    <dgm:pt modelId="{CB3AA6FC-DCC7-4794-8CEC-B02E50630B31}" type="pres">
      <dgm:prSet presAssocID="{AE352E20-2441-4D81-9B3C-F321CEAE8A78}" presName="bullet4b" presStyleLbl="node1" presStyleIdx="1" presStyleCnt="4" custLinFactX="-147748" custLinFactNeighborX="-200000" custLinFactNeighborY="-20317"/>
      <dgm:spPr>
        <a:solidFill>
          <a:srgbClr val="FFC000"/>
        </a:solidFill>
        <a:ln>
          <a:solidFill>
            <a:schemeClr val="bg1"/>
          </a:solidFill>
        </a:ln>
      </dgm:spPr>
    </dgm:pt>
    <dgm:pt modelId="{DE445EA7-B8BC-42A3-AF4C-EAACD2FE3F22}" type="pres">
      <dgm:prSet presAssocID="{AE352E20-2441-4D81-9B3C-F321CEAE8A78}" presName="textBox4b" presStyleLbl="revTx" presStyleIdx="1" presStyleCnt="4" custScaleX="232536" custLinFactNeighborX="3283" custLinFactNeighborY="-8844">
        <dgm:presLayoutVars>
          <dgm:bulletEnabled val="1"/>
        </dgm:presLayoutVars>
      </dgm:prSet>
      <dgm:spPr/>
    </dgm:pt>
    <dgm:pt modelId="{A85B0484-FB7F-4786-85EC-9C2AA0C9D063}" type="pres">
      <dgm:prSet presAssocID="{80D8D8A2-BC49-44EB-A9F1-C3A2C0ACFA50}" presName="bullet4c" presStyleLbl="node1" presStyleIdx="2" presStyleCnt="4" custLinFactX="100000" custLinFactNeighborX="112648" custLinFactNeighborY="-46610"/>
      <dgm:spPr>
        <a:solidFill>
          <a:srgbClr val="00B050"/>
        </a:solidFill>
        <a:ln>
          <a:solidFill>
            <a:schemeClr val="bg1"/>
          </a:solidFill>
        </a:ln>
      </dgm:spPr>
    </dgm:pt>
    <dgm:pt modelId="{DE735EF0-1C4B-495E-ADE3-3284DCDA5149}" type="pres">
      <dgm:prSet presAssocID="{80D8D8A2-BC49-44EB-A9F1-C3A2C0ACFA50}" presName="textBox4c" presStyleLbl="revTx" presStyleIdx="2" presStyleCnt="4" custScaleX="146522" custScaleY="81686" custLinFactNeighborX="83282" custLinFactNeighborY="-21063">
        <dgm:presLayoutVars>
          <dgm:bulletEnabled val="1"/>
        </dgm:presLayoutVars>
      </dgm:prSet>
      <dgm:spPr/>
    </dgm:pt>
    <dgm:pt modelId="{893DF4BE-9E43-4BA2-8BE7-D55871CBBB27}" type="pres">
      <dgm:prSet presAssocID="{79F1B2C8-E62B-4AE7-908C-B830E6F3F8B8}" presName="bullet4d" presStyleLbl="node1" presStyleIdx="3" presStyleCnt="4" custLinFactX="138439" custLinFactNeighborX="200000" custLinFactNeighborY="-15379"/>
      <dgm:spPr>
        <a:solidFill>
          <a:schemeClr val="accent5">
            <a:lumMod val="60000"/>
            <a:lumOff val="40000"/>
          </a:schemeClr>
        </a:solidFill>
        <a:ln>
          <a:solidFill>
            <a:schemeClr val="bg1"/>
          </a:solidFill>
        </a:ln>
      </dgm:spPr>
    </dgm:pt>
    <dgm:pt modelId="{C00FA40B-CA1F-4D70-9A85-A9DDB12B62C3}" type="pres">
      <dgm:prSet presAssocID="{79F1B2C8-E62B-4AE7-908C-B830E6F3F8B8}" presName="textBox4d" presStyleLbl="revTx" presStyleIdx="3" presStyleCnt="4" custScaleX="185937" custLinFactX="10852" custLinFactNeighborX="100000" custLinFactNeighborY="-5358">
        <dgm:presLayoutVars>
          <dgm:bulletEnabled val="1"/>
        </dgm:presLayoutVars>
      </dgm:prSet>
      <dgm:spPr/>
    </dgm:pt>
  </dgm:ptLst>
  <dgm:cxnLst>
    <dgm:cxn modelId="{C1B0A818-60CD-4BE3-B95B-454DD8E4E0E7}" srcId="{4AA80A43-161B-46D2-AC3E-5AEE212CEC54}" destId="{AE352E20-2441-4D81-9B3C-F321CEAE8A78}" srcOrd="1" destOrd="0" parTransId="{2637F733-E1D3-4F24-BDE8-B7AB8A519620}" sibTransId="{450EF15E-3D24-41FD-97FB-D32910C7A1A2}"/>
    <dgm:cxn modelId="{9C63401E-C4FD-4D64-9245-70636C13E389}" type="presOf" srcId="{79F1B2C8-E62B-4AE7-908C-B830E6F3F8B8}" destId="{C00FA40B-CA1F-4D70-9A85-A9DDB12B62C3}" srcOrd="0" destOrd="0" presId="urn:microsoft.com/office/officeart/2005/8/layout/arrow2"/>
    <dgm:cxn modelId="{6F676A2A-2187-4C08-9BAF-887B77CC2FC3}" srcId="{4AA80A43-161B-46D2-AC3E-5AEE212CEC54}" destId="{80D8D8A2-BC49-44EB-A9F1-C3A2C0ACFA50}" srcOrd="2" destOrd="0" parTransId="{F81C3A2A-4834-4796-BAD9-17267227B41D}" sibTransId="{92998273-0E88-4EF6-909C-2C126D0FADB5}"/>
    <dgm:cxn modelId="{B989192B-0AA8-4F4D-B289-03B363B2E898}" srcId="{4AA80A43-161B-46D2-AC3E-5AEE212CEC54}" destId="{79F1B2C8-E62B-4AE7-908C-B830E6F3F8B8}" srcOrd="3" destOrd="0" parTransId="{A26F6EB4-9514-44B1-ADEA-68B47988B16D}" sibTransId="{157FE2C8-7D7E-4D2A-8EBC-77E43B656CDA}"/>
    <dgm:cxn modelId="{2BFADB85-61CE-4316-BCA0-E9AFB59587AE}" type="presOf" srcId="{AE352E20-2441-4D81-9B3C-F321CEAE8A78}" destId="{DE445EA7-B8BC-42A3-AF4C-EAACD2FE3F22}" srcOrd="0" destOrd="0" presId="urn:microsoft.com/office/officeart/2005/8/layout/arrow2"/>
    <dgm:cxn modelId="{A770238F-4443-4A8F-A28B-3A67FF53965F}" srcId="{4AA80A43-161B-46D2-AC3E-5AEE212CEC54}" destId="{9EAC42AC-6086-4216-838A-089215267165}" srcOrd="0" destOrd="0" parTransId="{F8FBF5E5-020A-49E7-9FC2-FB9A17496366}" sibTransId="{215F0B53-8E04-47D5-AD2E-16F9B55DFCC2}"/>
    <dgm:cxn modelId="{172BE5A3-F6DD-48E9-9FEC-40BE2AF87453}" type="presOf" srcId="{9EAC42AC-6086-4216-838A-089215267165}" destId="{2723C16D-7E3F-4CB3-B0F9-9980486B520B}" srcOrd="0" destOrd="0" presId="urn:microsoft.com/office/officeart/2005/8/layout/arrow2"/>
    <dgm:cxn modelId="{B537CEAF-BA66-4697-90B8-801FC2BC26D9}" type="presOf" srcId="{4AA80A43-161B-46D2-AC3E-5AEE212CEC54}" destId="{F77736EE-8444-4003-BC88-CB050EF5FB17}" srcOrd="0" destOrd="0" presId="urn:microsoft.com/office/officeart/2005/8/layout/arrow2"/>
    <dgm:cxn modelId="{500FAFD3-9DA1-4F5C-9350-DAC6DFC48337}" type="presOf" srcId="{80D8D8A2-BC49-44EB-A9F1-C3A2C0ACFA50}" destId="{DE735EF0-1C4B-495E-ADE3-3284DCDA5149}" srcOrd="0" destOrd="0" presId="urn:microsoft.com/office/officeart/2005/8/layout/arrow2"/>
    <dgm:cxn modelId="{A61F067F-6050-47F4-8DD9-A92B9F728B0F}" type="presParOf" srcId="{F77736EE-8444-4003-BC88-CB050EF5FB17}" destId="{E7EA1D78-5921-45CB-A526-E1466A344472}" srcOrd="0" destOrd="0" presId="urn:microsoft.com/office/officeart/2005/8/layout/arrow2"/>
    <dgm:cxn modelId="{D2B97BB5-FD97-41D0-884C-3DA17F13B556}" type="presParOf" srcId="{F77736EE-8444-4003-BC88-CB050EF5FB17}" destId="{4B8B342D-61D1-464D-B722-B7061A7496E3}" srcOrd="1" destOrd="0" presId="urn:microsoft.com/office/officeart/2005/8/layout/arrow2"/>
    <dgm:cxn modelId="{B57BA358-83AC-4F89-BFE3-E8BAA97B7DB6}" type="presParOf" srcId="{4B8B342D-61D1-464D-B722-B7061A7496E3}" destId="{E4F10201-0704-4326-892F-0B60E47C00A6}" srcOrd="0" destOrd="0" presId="urn:microsoft.com/office/officeart/2005/8/layout/arrow2"/>
    <dgm:cxn modelId="{85E0B8F6-F232-4584-B9F4-4326ECB20DFA}" type="presParOf" srcId="{4B8B342D-61D1-464D-B722-B7061A7496E3}" destId="{2723C16D-7E3F-4CB3-B0F9-9980486B520B}" srcOrd="1" destOrd="0" presId="urn:microsoft.com/office/officeart/2005/8/layout/arrow2"/>
    <dgm:cxn modelId="{ABC51072-417C-44FD-A0BB-313CCBE8E5B1}" type="presParOf" srcId="{4B8B342D-61D1-464D-B722-B7061A7496E3}" destId="{CB3AA6FC-DCC7-4794-8CEC-B02E50630B31}" srcOrd="2" destOrd="0" presId="urn:microsoft.com/office/officeart/2005/8/layout/arrow2"/>
    <dgm:cxn modelId="{EFD654F0-26DC-4B3F-92F9-1C209AF19C63}" type="presParOf" srcId="{4B8B342D-61D1-464D-B722-B7061A7496E3}" destId="{DE445EA7-B8BC-42A3-AF4C-EAACD2FE3F22}" srcOrd="3" destOrd="0" presId="urn:microsoft.com/office/officeart/2005/8/layout/arrow2"/>
    <dgm:cxn modelId="{46354B1A-B61D-450A-8C1C-960848CFD189}" type="presParOf" srcId="{4B8B342D-61D1-464D-B722-B7061A7496E3}" destId="{A85B0484-FB7F-4786-85EC-9C2AA0C9D063}" srcOrd="4" destOrd="0" presId="urn:microsoft.com/office/officeart/2005/8/layout/arrow2"/>
    <dgm:cxn modelId="{3BCAD219-91C9-4879-BA21-2C9B2C5E28F5}" type="presParOf" srcId="{4B8B342D-61D1-464D-B722-B7061A7496E3}" destId="{DE735EF0-1C4B-495E-ADE3-3284DCDA5149}" srcOrd="5" destOrd="0" presId="urn:microsoft.com/office/officeart/2005/8/layout/arrow2"/>
    <dgm:cxn modelId="{2CFF7281-CB98-4432-B6F1-24875033BDD8}" type="presParOf" srcId="{4B8B342D-61D1-464D-B722-B7061A7496E3}" destId="{893DF4BE-9E43-4BA2-8BE7-D55871CBBB27}" srcOrd="6" destOrd="0" presId="urn:microsoft.com/office/officeart/2005/8/layout/arrow2"/>
    <dgm:cxn modelId="{D70B583E-95ED-4EF3-A181-B17F57B621D7}" type="presParOf" srcId="{4B8B342D-61D1-464D-B722-B7061A7496E3}" destId="{C00FA40B-CA1F-4D70-9A85-A9DDB12B62C3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A1D78-5921-45CB-A526-E1466A344472}">
      <dsp:nvSpPr>
        <dsp:cNvPr id="0" name=""/>
        <dsp:cNvSpPr/>
      </dsp:nvSpPr>
      <dsp:spPr>
        <a:xfrm>
          <a:off x="0" y="0"/>
          <a:ext cx="11639085" cy="4583241"/>
        </a:xfrm>
        <a:prstGeom prst="swooshArrow">
          <a:avLst>
            <a:gd name="adj1" fmla="val 25000"/>
            <a:gd name="adj2" fmla="val 25000"/>
          </a:avLst>
        </a:prstGeom>
        <a:gradFill flip="none" rotWithShape="0">
          <a:gsLst>
            <a:gs pos="10000">
              <a:srgbClr val="7030A0">
                <a:tint val="66000"/>
                <a:satMod val="160000"/>
              </a:srgbClr>
            </a:gs>
            <a:gs pos="87000">
              <a:srgbClr val="7030A0">
                <a:tint val="23500"/>
                <a:satMod val="160000"/>
              </a:srgbClr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10201-0704-4326-892F-0B60E47C00A6}">
      <dsp:nvSpPr>
        <dsp:cNvPr id="0" name=""/>
        <dsp:cNvSpPr/>
      </dsp:nvSpPr>
      <dsp:spPr>
        <a:xfrm flipH="1">
          <a:off x="1383273" y="3288161"/>
          <a:ext cx="162709" cy="161798"/>
        </a:xfrm>
        <a:prstGeom prst="ellipse">
          <a:avLst/>
        </a:prstGeom>
        <a:solidFill>
          <a:srgbClr val="FF000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3C16D-7E3F-4CB3-B0F9-9980486B520B}">
      <dsp:nvSpPr>
        <dsp:cNvPr id="0" name=""/>
        <dsp:cNvSpPr/>
      </dsp:nvSpPr>
      <dsp:spPr>
        <a:xfrm>
          <a:off x="971523" y="3005066"/>
          <a:ext cx="2369121" cy="1090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1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Reactive</a:t>
          </a:r>
        </a:p>
      </dsp:txBody>
      <dsp:txXfrm>
        <a:off x="971523" y="3005066"/>
        <a:ext cx="2369121" cy="1090811"/>
      </dsp:txXfrm>
    </dsp:sp>
    <dsp:sp modelId="{CB3AA6FC-DCC7-4794-8CEC-B02E50630B31}">
      <dsp:nvSpPr>
        <dsp:cNvPr id="0" name=""/>
        <dsp:cNvSpPr/>
      </dsp:nvSpPr>
      <dsp:spPr>
        <a:xfrm>
          <a:off x="3323328" y="2282440"/>
          <a:ext cx="293327" cy="293327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45EA7-B8BC-42A3-AF4C-EAACD2FE3F22}">
      <dsp:nvSpPr>
        <dsp:cNvPr id="0" name=""/>
        <dsp:cNvSpPr/>
      </dsp:nvSpPr>
      <dsp:spPr>
        <a:xfrm>
          <a:off x="3520082" y="2303458"/>
          <a:ext cx="3580982" cy="2094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42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Defined </a:t>
          </a:r>
        </a:p>
      </dsp:txBody>
      <dsp:txXfrm>
        <a:off x="3520082" y="2303458"/>
        <a:ext cx="3580982" cy="2094541"/>
      </dsp:txXfrm>
    </dsp:sp>
    <dsp:sp modelId="{A85B0484-FB7F-4786-85EC-9C2AA0C9D063}">
      <dsp:nvSpPr>
        <dsp:cNvPr id="0" name=""/>
        <dsp:cNvSpPr/>
      </dsp:nvSpPr>
      <dsp:spPr>
        <a:xfrm>
          <a:off x="6691479" y="1375314"/>
          <a:ext cx="388658" cy="388658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35EF0-1C4B-495E-ADE3-3284DCDA5149}">
      <dsp:nvSpPr>
        <dsp:cNvPr id="0" name=""/>
        <dsp:cNvSpPr/>
      </dsp:nvSpPr>
      <dsp:spPr>
        <a:xfrm>
          <a:off x="6983638" y="1413567"/>
          <a:ext cx="2256393" cy="2313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942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Managed</a:t>
          </a:r>
        </a:p>
      </dsp:txBody>
      <dsp:txXfrm>
        <a:off x="6983638" y="1413567"/>
        <a:ext cx="2256393" cy="2313709"/>
      </dsp:txXfrm>
    </dsp:sp>
    <dsp:sp modelId="{893DF4BE-9E43-4BA2-8BE7-D55871CBBB27}">
      <dsp:nvSpPr>
        <dsp:cNvPr id="0" name=""/>
        <dsp:cNvSpPr/>
      </dsp:nvSpPr>
      <dsp:spPr>
        <a:xfrm>
          <a:off x="9284408" y="956657"/>
          <a:ext cx="520656" cy="520656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FA40B-CA1F-4D70-9A85-A9DDB12B62C3}">
      <dsp:nvSpPr>
        <dsp:cNvPr id="0" name=""/>
        <dsp:cNvSpPr/>
      </dsp:nvSpPr>
      <dsp:spPr>
        <a:xfrm>
          <a:off x="8828017" y="1120983"/>
          <a:ext cx="2863372" cy="3286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5885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Optimised</a:t>
          </a:r>
        </a:p>
      </dsp:txBody>
      <dsp:txXfrm>
        <a:off x="8828017" y="1120983"/>
        <a:ext cx="2863372" cy="3286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5313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4418" y="476672"/>
            <a:ext cx="10943167" cy="36004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B0F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Section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056743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8AF34AD-2681-4812-9F67-9DE78A645E9E}"/>
              </a:ext>
            </a:extLst>
          </p:cNvPr>
          <p:cNvGraphicFramePr/>
          <p:nvPr/>
        </p:nvGraphicFramePr>
        <p:xfrm>
          <a:off x="0" y="1528225"/>
          <a:ext cx="12192000" cy="4583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5DCD24-D332-4882-8749-5AD992B2B850}"/>
              </a:ext>
            </a:extLst>
          </p:cNvPr>
          <p:cNvSpPr txBox="1"/>
          <p:nvPr/>
        </p:nvSpPr>
        <p:spPr>
          <a:xfrm>
            <a:off x="1149088" y="4858763"/>
            <a:ext cx="2237419" cy="13106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Roles </a:t>
            </a: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 dirty="0">
                <a:ea typeface="+mn-lt"/>
                <a:cs typeface="+mn-lt"/>
              </a:rPr>
              <a:t>responsibilities unclear or inconsistent across domains.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Data </a:t>
            </a:r>
            <a:r>
              <a:rPr lang="en-AU" sz="1050" dirty="0">
                <a:ea typeface="+mn-lt"/>
                <a:cs typeface="+mn-lt"/>
              </a:rPr>
              <a:t>issues identified informally </a:t>
            </a: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 dirty="0">
                <a:ea typeface="+mn-lt"/>
                <a:cs typeface="+mn-lt"/>
              </a:rPr>
              <a:t>resolved reactively.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Limited trust in key metrics with frequent reconciliation efforts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Data definitions inconsistent or undocumented.</a:t>
            </a:r>
            <a:endParaRPr lang="en-AU" sz="105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Lineage either unknown or recreated manually for projects.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Data quality problems identified late in processes.</a:t>
            </a:r>
            <a:endParaRPr lang="en-AU"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FAC7E6-C2D4-4B14-82B3-0494A8B264A9}"/>
              </a:ext>
            </a:extLst>
          </p:cNvPr>
          <p:cNvSpPr/>
          <p:nvPr/>
        </p:nvSpPr>
        <p:spPr>
          <a:xfrm>
            <a:off x="316714" y="73758"/>
            <a:ext cx="12287370" cy="759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b="1" dirty="0">
                <a:solidFill>
                  <a:srgbClr val="7030A0"/>
                </a:solidFill>
                <a:latin typeface="Aptos"/>
              </a:rPr>
              <a:t>Understanding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/>
              </a:rPr>
              <a:t> where you are is critical in determining where you need to be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83A9B8-517E-4AF0-BC3D-6BAC5B744D51}"/>
              </a:ext>
            </a:extLst>
          </p:cNvPr>
          <p:cNvSpPr/>
          <p:nvPr/>
        </p:nvSpPr>
        <p:spPr>
          <a:xfrm>
            <a:off x="294153" y="747711"/>
            <a:ext cx="12040814" cy="842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i="1" dirty="0">
                <a:solidFill>
                  <a:schemeClr val="tx1"/>
                </a:solidFill>
                <a:latin typeface="Aptos"/>
              </a:rPr>
              <a:t>Artemis should aim to transition to an ‘</a:t>
            </a:r>
            <a:r>
              <a:rPr lang="en-US" sz="1600" i="1" dirty="0" err="1">
                <a:solidFill>
                  <a:schemeClr val="tx1"/>
                </a:solidFill>
                <a:latin typeface="Aptos"/>
              </a:rPr>
              <a:t>optimised</a:t>
            </a:r>
            <a:r>
              <a:rPr lang="en-US" sz="1600" i="1" dirty="0">
                <a:solidFill>
                  <a:schemeClr val="tx1"/>
                </a:solidFill>
                <a:latin typeface="Aptos"/>
              </a:rPr>
              <a:t>’ state, where data and analytics are embedded into every facet of decision-making, enabling the business to operate as a truly data-driven organisation. Most companies sit within the early stages of the data maturity lifecycle, so a clear, staged roadmap will be essential to guide Artemis from its current position to its target state.</a:t>
            </a:r>
          </a:p>
        </p:txBody>
      </p:sp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64FFD913-D897-472D-8B69-F6CD754AEB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34616" y="6629412"/>
            <a:ext cx="186132" cy="186132"/>
          </a:xfrm>
          <a:prstGeom prst="rect">
            <a:avLst/>
          </a:prstGeom>
        </p:spPr>
      </p:pic>
      <p:pic>
        <p:nvPicPr>
          <p:cNvPr id="10" name="Graphic 9" descr="Board Of Directors with solid fill">
            <a:extLst>
              <a:ext uri="{FF2B5EF4-FFF2-40B4-BE49-F238E27FC236}">
                <a16:creationId xmlns:a16="http://schemas.microsoft.com/office/drawing/2014/main" id="{37C31374-3343-4842-9F81-2DF24D80B9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3766" y="6619943"/>
            <a:ext cx="186132" cy="186132"/>
          </a:xfrm>
          <a:prstGeom prst="rect">
            <a:avLst/>
          </a:prstGeom>
        </p:spPr>
      </p:pic>
      <p:pic>
        <p:nvPicPr>
          <p:cNvPr id="16" name="Graphic 15" descr="Steering Wheel with solid fill">
            <a:extLst>
              <a:ext uri="{FF2B5EF4-FFF2-40B4-BE49-F238E27FC236}">
                <a16:creationId xmlns:a16="http://schemas.microsoft.com/office/drawing/2014/main" id="{95EF87A3-EFBC-4794-8F0E-A34342C79F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2965" y="6619943"/>
            <a:ext cx="186132" cy="1861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D8B47E-8DE8-4D3D-888D-0D0A0DA5A23A}"/>
              </a:ext>
            </a:extLst>
          </p:cNvPr>
          <p:cNvSpPr txBox="1"/>
          <p:nvPr/>
        </p:nvSpPr>
        <p:spPr>
          <a:xfrm>
            <a:off x="9389359" y="6629682"/>
            <a:ext cx="934407" cy="4571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Data Governance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025541-DDED-4E14-9EDD-93109F4B0F9C}"/>
              </a:ext>
            </a:extLst>
          </p:cNvPr>
          <p:cNvSpPr txBox="1"/>
          <p:nvPr/>
        </p:nvSpPr>
        <p:spPr>
          <a:xfrm>
            <a:off x="10522334" y="6547534"/>
            <a:ext cx="841020" cy="17847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Data Management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E72886-8962-4716-8962-E980FC0D5075}"/>
              </a:ext>
            </a:extLst>
          </p:cNvPr>
          <p:cNvSpPr txBox="1"/>
          <p:nvPr/>
        </p:nvSpPr>
        <p:spPr>
          <a:xfrm>
            <a:off x="11397098" y="6653755"/>
            <a:ext cx="890273" cy="4833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Analytics</a:t>
            </a:r>
          </a:p>
        </p:txBody>
      </p:sp>
      <p:pic>
        <p:nvPicPr>
          <p:cNvPr id="55" name="Graphic 54" descr="Bar chart with solid fill">
            <a:extLst>
              <a:ext uri="{FF2B5EF4-FFF2-40B4-BE49-F238E27FC236}">
                <a16:creationId xmlns:a16="http://schemas.microsoft.com/office/drawing/2014/main" id="{DC12ADA4-551E-447F-BCD6-D33F5B6EB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40465" y="5326637"/>
            <a:ext cx="290436" cy="290436"/>
          </a:xfrm>
          <a:prstGeom prst="rect">
            <a:avLst/>
          </a:prstGeom>
        </p:spPr>
      </p:pic>
      <p:pic>
        <p:nvPicPr>
          <p:cNvPr id="57" name="Graphic 56" descr="Board Of Directors with solid fill">
            <a:extLst>
              <a:ext uri="{FF2B5EF4-FFF2-40B4-BE49-F238E27FC236}">
                <a16:creationId xmlns:a16="http://schemas.microsoft.com/office/drawing/2014/main" id="{E354F6B5-C4DA-4B58-ADC4-6A79426BB9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35633" y="4457079"/>
            <a:ext cx="290436" cy="290436"/>
          </a:xfrm>
          <a:prstGeom prst="rect">
            <a:avLst/>
          </a:prstGeom>
        </p:spPr>
      </p:pic>
      <p:pic>
        <p:nvPicPr>
          <p:cNvPr id="58" name="Graphic 57" descr="Steering Wheel with solid fill">
            <a:extLst>
              <a:ext uri="{FF2B5EF4-FFF2-40B4-BE49-F238E27FC236}">
                <a16:creationId xmlns:a16="http://schemas.microsoft.com/office/drawing/2014/main" id="{06A95D6D-5A47-4E37-B83A-931EE2DC66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40465" y="3333290"/>
            <a:ext cx="290436" cy="290436"/>
          </a:xfrm>
          <a:prstGeom prst="rect">
            <a:avLst/>
          </a:prstGeom>
        </p:spPr>
      </p:pic>
      <p:pic>
        <p:nvPicPr>
          <p:cNvPr id="59" name="Graphic 58" descr="Bar chart with solid fill">
            <a:extLst>
              <a:ext uri="{FF2B5EF4-FFF2-40B4-BE49-F238E27FC236}">
                <a16:creationId xmlns:a16="http://schemas.microsoft.com/office/drawing/2014/main" id="{25D0E7B4-0A69-4E23-9315-BBD1C2C96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8247" y="5849999"/>
            <a:ext cx="290436" cy="290436"/>
          </a:xfrm>
          <a:prstGeom prst="rect">
            <a:avLst/>
          </a:prstGeom>
        </p:spPr>
      </p:pic>
      <p:pic>
        <p:nvPicPr>
          <p:cNvPr id="62" name="Graphic 61" descr="Board Of Directors with solid fill">
            <a:extLst>
              <a:ext uri="{FF2B5EF4-FFF2-40B4-BE49-F238E27FC236}">
                <a16:creationId xmlns:a16="http://schemas.microsoft.com/office/drawing/2014/main" id="{E6E49EB2-A05F-485D-B057-A84F8DD092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2900" y="4457069"/>
            <a:ext cx="290436" cy="290436"/>
          </a:xfrm>
          <a:prstGeom prst="rect">
            <a:avLst/>
          </a:prstGeom>
        </p:spPr>
      </p:pic>
      <p:pic>
        <p:nvPicPr>
          <p:cNvPr id="63" name="Graphic 62" descr="Steering Wheel with solid fill">
            <a:extLst>
              <a:ext uri="{FF2B5EF4-FFF2-40B4-BE49-F238E27FC236}">
                <a16:creationId xmlns:a16="http://schemas.microsoft.com/office/drawing/2014/main" id="{6C5A3A8F-7272-423F-9E62-DC97F82369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3606" y="3566295"/>
            <a:ext cx="290436" cy="290436"/>
          </a:xfrm>
          <a:prstGeom prst="rect">
            <a:avLst/>
          </a:prstGeom>
        </p:spPr>
      </p:pic>
      <p:pic>
        <p:nvPicPr>
          <p:cNvPr id="64" name="Graphic 63" descr="Bar chart with solid fill">
            <a:extLst>
              <a:ext uri="{FF2B5EF4-FFF2-40B4-BE49-F238E27FC236}">
                <a16:creationId xmlns:a16="http://schemas.microsoft.com/office/drawing/2014/main" id="{7AA1B3D8-AAEF-4830-BF81-C74F0CC17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2066" y="6093706"/>
            <a:ext cx="290436" cy="290436"/>
          </a:xfrm>
          <a:prstGeom prst="rect">
            <a:avLst/>
          </a:prstGeom>
        </p:spPr>
      </p:pic>
      <p:pic>
        <p:nvPicPr>
          <p:cNvPr id="65" name="Graphic 64" descr="Board Of Directors with solid fill">
            <a:extLst>
              <a:ext uri="{FF2B5EF4-FFF2-40B4-BE49-F238E27FC236}">
                <a16:creationId xmlns:a16="http://schemas.microsoft.com/office/drawing/2014/main" id="{57549A13-47C4-4D5D-B76E-7CE5231EF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2066" y="5207742"/>
            <a:ext cx="290436" cy="290436"/>
          </a:xfrm>
          <a:prstGeom prst="rect">
            <a:avLst/>
          </a:prstGeom>
        </p:spPr>
      </p:pic>
      <p:pic>
        <p:nvPicPr>
          <p:cNvPr id="67" name="Graphic 66" descr="Steering Wheel with solid fill">
            <a:extLst>
              <a:ext uri="{FF2B5EF4-FFF2-40B4-BE49-F238E27FC236}">
                <a16:creationId xmlns:a16="http://schemas.microsoft.com/office/drawing/2014/main" id="{BB70FAB2-BB62-43F4-8D7E-2B9B6CDCA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12066" y="4393129"/>
            <a:ext cx="290436" cy="290436"/>
          </a:xfrm>
          <a:prstGeom prst="rect">
            <a:avLst/>
          </a:prstGeom>
        </p:spPr>
      </p:pic>
      <p:pic>
        <p:nvPicPr>
          <p:cNvPr id="68" name="Graphic 67" descr="Bar chart with solid fill">
            <a:extLst>
              <a:ext uri="{FF2B5EF4-FFF2-40B4-BE49-F238E27FC236}">
                <a16:creationId xmlns:a16="http://schemas.microsoft.com/office/drawing/2014/main" id="{0E24014A-2D9D-43E9-A46D-B7960A7393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651" y="6287492"/>
            <a:ext cx="290436" cy="290436"/>
          </a:xfrm>
          <a:prstGeom prst="rect">
            <a:avLst/>
          </a:prstGeom>
        </p:spPr>
      </p:pic>
      <p:pic>
        <p:nvPicPr>
          <p:cNvPr id="69" name="Graphic 68" descr="Board Of Directors with solid fill">
            <a:extLst>
              <a:ext uri="{FF2B5EF4-FFF2-40B4-BE49-F238E27FC236}">
                <a16:creationId xmlns:a16="http://schemas.microsoft.com/office/drawing/2014/main" id="{DF60B949-05FE-4560-93E8-1AF95F2C27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651" y="5831267"/>
            <a:ext cx="290436" cy="290436"/>
          </a:xfrm>
          <a:prstGeom prst="rect">
            <a:avLst/>
          </a:prstGeom>
        </p:spPr>
      </p:pic>
      <p:pic>
        <p:nvPicPr>
          <p:cNvPr id="70" name="Graphic 69" descr="Steering Wheel with solid fill">
            <a:extLst>
              <a:ext uri="{FF2B5EF4-FFF2-40B4-BE49-F238E27FC236}">
                <a16:creationId xmlns:a16="http://schemas.microsoft.com/office/drawing/2014/main" id="{518E5106-22FA-42C9-8415-0CBFC08BAB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646" y="5122070"/>
            <a:ext cx="290436" cy="290436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2298D78C-ED74-4B64-8DDE-C6B2493E3852}"/>
              </a:ext>
            </a:extLst>
          </p:cNvPr>
          <p:cNvSpPr txBox="1"/>
          <p:nvPr/>
        </p:nvSpPr>
        <p:spPr>
          <a:xfrm>
            <a:off x="9955744" y="3043578"/>
            <a:ext cx="2266950" cy="13106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Governance decisions informed by metrics, trends </a:t>
            </a:r>
            <a:r>
              <a:rPr kumimoji="0" lang="en-AU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>
                <a:ea typeface="+mn-lt"/>
                <a:cs typeface="+mn-lt"/>
              </a:rPr>
              <a:t>risk insights.</a:t>
            </a:r>
            <a:endParaRPr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Stewardship self-sufficient with continuous improvement cycles.</a:t>
            </a:r>
            <a:endParaRPr lang="en-AU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Cross-domain metrics consistent </a:t>
            </a:r>
            <a:r>
              <a:rPr kumimoji="0" lang="en-AU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>
                <a:ea typeface="+mn-lt"/>
                <a:cs typeface="+mn-lt"/>
              </a:rPr>
              <a:t>trusted by senior leaders.</a:t>
            </a:r>
            <a:endParaRPr lang="en-AU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Automated lineage and quality fully integrated into delivery pipelines.</a:t>
            </a:r>
            <a:endParaRPr lang="en-AU" sz="105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Predictive analytics used to prevent data issues before they occur.</a:t>
            </a:r>
            <a:endParaRPr lang="en-AU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High-quality, trusted datasets enable faster, decentralised decision-making.</a:t>
            </a:r>
            <a:endParaRPr lang="en-AU"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376D9B-9730-4B71-977C-B8191C2601CA}"/>
              </a:ext>
            </a:extLst>
          </p:cNvPr>
          <p:cNvSpPr txBox="1"/>
          <p:nvPr/>
        </p:nvSpPr>
        <p:spPr>
          <a:xfrm>
            <a:off x="7021553" y="3283533"/>
            <a:ext cx="2714080" cy="13106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AU" sz="1050">
                <a:ea typeface="+mn-lt"/>
                <a:cs typeface="+mn-lt"/>
              </a:rPr>
              <a:t>Stewardship processes running consistently across domains.</a:t>
            </a:r>
            <a:endParaRPr lang="en-US"/>
          </a:p>
          <a:p>
            <a:pPr marL="285750" indent="-285750">
              <a:buFont typeface="Arial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CDEs maintained in a central platform with ownership </a:t>
            </a: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 dirty="0">
                <a:ea typeface="+mn-lt"/>
                <a:cs typeface="+mn-lt"/>
              </a:rPr>
              <a:t>controls.</a:t>
            </a:r>
            <a:endParaRPr lang="en-AU" dirty="0"/>
          </a:p>
          <a:p>
            <a:pPr marL="285750" indent="-285750">
              <a:buFont typeface="Arial"/>
              <a:buChar char="•"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Data </a:t>
            </a:r>
            <a:r>
              <a:rPr lang="en-AU" sz="1050" dirty="0">
                <a:ea typeface="+mn-lt"/>
                <a:cs typeface="+mn-lt"/>
              </a:rPr>
              <a:t>risk reporting integrated into enterprise risk processes.</a:t>
            </a:r>
            <a:endParaRPr lang="en-AU" dirty="0"/>
          </a:p>
          <a:p>
            <a:pPr marL="285750" indent="-285750">
              <a:buFont typeface="Arial"/>
              <a:buChar char="•"/>
              <a:defRPr/>
            </a:pPr>
            <a:r>
              <a:rPr lang="en-AU" sz="1050">
                <a:ea typeface="+mn-lt"/>
                <a:cs typeface="+mn-lt"/>
              </a:rPr>
              <a:t>Automated lineage available for priority systems and reporting flows.</a:t>
            </a:r>
            <a:endParaRPr lang="en-AU"/>
          </a:p>
          <a:p>
            <a:pPr marL="285750" indent="-285750">
              <a:buFont typeface="Arial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Data quality rules deployed for all CDEs with monitoring dashboards.</a:t>
            </a:r>
            <a:endParaRPr lang="en-AU" dirty="0"/>
          </a:p>
          <a:p>
            <a:pPr marL="285750" indent="-285750">
              <a:buFont typeface="Arial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Issue management processes standardised with clear SLAs.</a:t>
            </a:r>
            <a:endParaRPr lang="en-AU" dirty="0"/>
          </a:p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6A604-EF8B-4828-A41F-90ECB5FEC4F5}"/>
              </a:ext>
            </a:extLst>
          </p:cNvPr>
          <p:cNvSpPr txBox="1"/>
          <p:nvPr/>
        </p:nvSpPr>
        <p:spPr>
          <a:xfrm>
            <a:off x="5624512" y="27093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98AB6-B6C4-42F2-918F-70C48AB95E15}"/>
              </a:ext>
            </a:extLst>
          </p:cNvPr>
          <p:cNvSpPr txBox="1"/>
          <p:nvPr/>
        </p:nvSpPr>
        <p:spPr>
          <a:xfrm>
            <a:off x="5624512" y="27093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DD679B-17D3-45F9-9CC1-6F9A8ED3BC35}"/>
              </a:ext>
            </a:extLst>
          </p:cNvPr>
          <p:cNvSpPr txBox="1"/>
          <p:nvPr/>
        </p:nvSpPr>
        <p:spPr>
          <a:xfrm>
            <a:off x="5738812" y="27474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78E23-569D-4412-90A6-0B3308E19742}"/>
              </a:ext>
            </a:extLst>
          </p:cNvPr>
          <p:cNvSpPr txBox="1"/>
          <p:nvPr/>
        </p:nvSpPr>
        <p:spPr>
          <a:xfrm>
            <a:off x="4320461" y="2705744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1822A2-8B7D-4A20-BD76-9EF448EDBC86}"/>
              </a:ext>
            </a:extLst>
          </p:cNvPr>
          <p:cNvSpPr txBox="1"/>
          <p:nvPr/>
        </p:nvSpPr>
        <p:spPr>
          <a:xfrm>
            <a:off x="6772900" y="1976198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4E223C-67C8-46A0-BA1F-291EE6733BBE}"/>
              </a:ext>
            </a:extLst>
          </p:cNvPr>
          <p:cNvSpPr txBox="1"/>
          <p:nvPr/>
        </p:nvSpPr>
        <p:spPr>
          <a:xfrm>
            <a:off x="9377766" y="1639776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B92F79-40BC-4BD4-80BB-B432698AD09E}"/>
              </a:ext>
            </a:extLst>
          </p:cNvPr>
          <p:cNvCxnSpPr>
            <a:cxnSpLocks/>
          </p:cNvCxnSpPr>
          <p:nvPr/>
        </p:nvCxnSpPr>
        <p:spPr>
          <a:xfrm flipV="1">
            <a:off x="1949219" y="3132942"/>
            <a:ext cx="2382013" cy="996861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BD82F52-5E72-4FA9-856C-2325D7BC9021}"/>
              </a:ext>
            </a:extLst>
          </p:cNvPr>
          <p:cNvCxnSpPr>
            <a:cxnSpLocks/>
          </p:cNvCxnSpPr>
          <p:nvPr/>
        </p:nvCxnSpPr>
        <p:spPr>
          <a:xfrm flipV="1">
            <a:off x="5226667" y="2474750"/>
            <a:ext cx="1397989" cy="342024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8067145-20FD-45BC-BADA-F2F4D42E9BEC}"/>
              </a:ext>
            </a:extLst>
          </p:cNvPr>
          <p:cNvCxnSpPr>
            <a:cxnSpLocks/>
          </p:cNvCxnSpPr>
          <p:nvPr/>
        </p:nvCxnSpPr>
        <p:spPr>
          <a:xfrm flipV="1">
            <a:off x="7802353" y="2031718"/>
            <a:ext cx="1470612" cy="220861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C44DC85-CB06-456E-A35B-EE9F6021D0CD}"/>
              </a:ext>
            </a:extLst>
          </p:cNvPr>
          <p:cNvSpPr txBox="1"/>
          <p:nvPr/>
        </p:nvSpPr>
        <p:spPr>
          <a:xfrm>
            <a:off x="987983" y="3891242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93CACE-2BBA-4AC0-AC61-36744ECD9B20}"/>
              </a:ext>
            </a:extLst>
          </p:cNvPr>
          <p:cNvSpPr txBox="1"/>
          <p:nvPr/>
        </p:nvSpPr>
        <p:spPr>
          <a:xfrm>
            <a:off x="3682071" y="4145999"/>
            <a:ext cx="3381265" cy="260253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AU" sz="105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Data </a:t>
            </a:r>
            <a:r>
              <a:rPr lang="en-AU" sz="1050">
                <a:ea typeface="+mn-lt"/>
                <a:cs typeface="+mn-lt"/>
              </a:rPr>
              <a:t>Owners and Stewards formally appointed with clear expectations.</a:t>
            </a:r>
            <a:endParaRPr lang="en-US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Enterprise </a:t>
            </a:r>
            <a:r>
              <a:rPr kumimoji="0" lang="en-AU" sz="105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Data </a:t>
            </a:r>
            <a:r>
              <a:rPr lang="en-AU" sz="1050">
                <a:ea typeface="+mn-lt"/>
                <a:cs typeface="+mn-lt"/>
              </a:rPr>
              <a:t>Governance Framework published </a:t>
            </a:r>
            <a:r>
              <a:rPr kumimoji="0" lang="en-AU" sz="105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and </a:t>
            </a:r>
            <a:r>
              <a:rPr lang="en-AU" sz="1050">
                <a:ea typeface="+mn-lt"/>
                <a:cs typeface="+mn-lt"/>
              </a:rPr>
              <a:t>communicated.</a:t>
            </a:r>
            <a:endParaRPr lang="en-AU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AU" sz="1050">
                <a:ea typeface="+mn-lt"/>
                <a:cs typeface="+mn-lt"/>
              </a:rPr>
              <a:t>Prioritised list </a:t>
            </a:r>
            <a:r>
              <a:rPr kumimoji="0" lang="en-AU" sz="105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of </a:t>
            </a:r>
            <a:r>
              <a:rPr lang="en-AU" sz="1050">
                <a:ea typeface="+mn-lt"/>
                <a:cs typeface="+mn-lt"/>
              </a:rPr>
              <a:t>Critical </a:t>
            </a:r>
            <a:r>
              <a:rPr kumimoji="0" lang="en-AU" sz="105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lt"/>
                <a:cs typeface="+mn-lt"/>
              </a:rPr>
              <a:t>Data </a:t>
            </a:r>
            <a:r>
              <a:rPr lang="en-AU" sz="1050">
                <a:ea typeface="+mn-lt"/>
                <a:cs typeface="+mn-lt"/>
              </a:rPr>
              <a:t>Elements (CDEs) agreed with domains.</a:t>
            </a:r>
            <a:endParaRPr lang="en-AU"/>
          </a:p>
          <a:p>
            <a:pPr marL="285750" indent="-285750">
              <a:buFont typeface="Arial"/>
              <a:buChar char="•"/>
              <a:defRPr/>
            </a:pPr>
            <a:r>
              <a:rPr lang="en-AU" sz="1050">
                <a:ea typeface="+mn-lt"/>
                <a:cs typeface="+mn-lt"/>
              </a:rPr>
              <a:t>Business glossary established with baseline definitions.</a:t>
            </a:r>
            <a:endParaRPr lang="en-AU"/>
          </a:p>
          <a:p>
            <a:pPr marL="285750" indent="-285750">
              <a:buFont typeface="Arial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Initial documented lineage for high-priority data flows.</a:t>
            </a:r>
            <a:endParaRPr lang="en-AU" dirty="0"/>
          </a:p>
          <a:p>
            <a:pPr marL="285750" indent="-285750">
              <a:buFont typeface="Arial"/>
              <a:buChar char="•"/>
              <a:defRPr/>
            </a:pPr>
            <a:r>
              <a:rPr lang="en-AU" sz="1050" dirty="0">
                <a:ea typeface="+mn-lt"/>
                <a:cs typeface="+mn-lt"/>
              </a:rPr>
              <a:t>Basic data quality thresholds defined for core CDEs.</a:t>
            </a:r>
            <a:endParaRPr lang="en-AU" dirty="0"/>
          </a:p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  <a:defRPr/>
            </a:pPr>
            <a:endParaRPr lang="en-AU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39512-C54D-40BC-BBD7-839898B1D430}"/>
              </a:ext>
            </a:extLst>
          </p:cNvPr>
          <p:cNvSpPr txBox="1"/>
          <p:nvPr/>
        </p:nvSpPr>
        <p:spPr>
          <a:xfrm>
            <a:off x="5624945" y="2739344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1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2025-11-24T00:58:13Z</dcterms:created>
  <dcterms:modified xsi:type="dcterms:W3CDTF">2025-11-24T01:50:24Z</dcterms:modified>
</cp:coreProperties>
</file>